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92" r:id="rId5"/>
    <p:sldId id="299" r:id="rId6"/>
    <p:sldId id="297" r:id="rId7"/>
    <p:sldId id="261" r:id="rId8"/>
    <p:sldId id="298" r:id="rId9"/>
    <p:sldId id="279" r:id="rId10"/>
    <p:sldId id="276" r:id="rId11"/>
    <p:sldId id="293" r:id="rId12"/>
    <p:sldId id="268" r:id="rId13"/>
    <p:sldId id="301" r:id="rId14"/>
    <p:sldId id="300" r:id="rId15"/>
    <p:sldId id="28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839" autoAdjust="0"/>
  </p:normalViewPr>
  <p:slideViewPr>
    <p:cSldViewPr snapToGrid="0" showGuides="1">
      <p:cViewPr varScale="1">
        <p:scale>
          <a:sx n="64" d="100"/>
          <a:sy n="64" d="100"/>
        </p:scale>
        <p:origin x="978" y="78"/>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4/30/2026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4/30/2026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53" r:id="rId10"/>
    <p:sldLayoutId id="2147483663" r:id="rId11"/>
    <p:sldLayoutId id="2147483665" r:id="rId12"/>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dirty="0"/>
              <a:t>CUSTOMER SEGMENTATION ANALYSIS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endParaRPr lang="en-US" dirty="0"/>
          </a:p>
          <a:p>
            <a:r>
              <a:rPr lang="en-US" dirty="0"/>
              <a:t>- By INDRANEEL DAS</a:t>
            </a:r>
          </a:p>
        </p:txBody>
      </p:sp>
      <p:pic>
        <p:nvPicPr>
          <p:cNvPr id="11" name="Picture Placeholder 10">
            <a:extLst>
              <a:ext uri="{FF2B5EF4-FFF2-40B4-BE49-F238E27FC236}">
                <a16:creationId xmlns:a16="http://schemas.microsoft.com/office/drawing/2014/main" id="{56A1D2E0-FD65-C48E-8DB9-BA3C3D30691F}"/>
              </a:ext>
            </a:extLst>
          </p:cNvPr>
          <p:cNvPicPr>
            <a:picLocks noGrp="1" noChangeAspect="1"/>
          </p:cNvPicPr>
          <p:nvPr>
            <p:ph type="pic" sz="quarter" idx="47"/>
          </p:nvPr>
        </p:nvPicPr>
        <p:blipFill>
          <a:blip r:embed="rId3"/>
          <a:srcRect l="35737" t="1782" r="19165" b="-587"/>
          <a:stretch>
            <a:fillRect/>
          </a:stretch>
        </p:blipFill>
        <p:spPr>
          <a:xfrm>
            <a:off x="6769853" y="926121"/>
            <a:ext cx="4405503" cy="500575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INTRO </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
        <p:nvSpPr>
          <p:cNvPr id="6" name="Content Placeholder 5">
            <a:extLst>
              <a:ext uri="{FF2B5EF4-FFF2-40B4-BE49-F238E27FC236}">
                <a16:creationId xmlns:a16="http://schemas.microsoft.com/office/drawing/2014/main" id="{04864448-5358-03BF-33BF-9EAADC332B4A}"/>
              </a:ext>
            </a:extLst>
          </p:cNvPr>
          <p:cNvSpPr>
            <a:spLocks noGrp="1"/>
          </p:cNvSpPr>
          <p:nvPr>
            <p:ph sz="quarter" idx="35"/>
          </p:nvPr>
        </p:nvSpPr>
        <p:spPr>
          <a:xfrm>
            <a:off x="3070746" y="2879678"/>
            <a:ext cx="6196084" cy="3703367"/>
          </a:xfrm>
        </p:spPr>
        <p:txBody>
          <a:bodyPr>
            <a:normAutofit/>
          </a:bodyPr>
          <a:lstStyle/>
          <a:p>
            <a:r>
              <a:rPr lang="en-US" dirty="0"/>
              <a:t>Customer Segmentation is a key technique used to understand different types of customers based on their characteristics and behavior. This project analyses customer data using age, income ,and spending score to identify meaningful pattern. Using IBM Cognos Customers Analytics, both a dashboard and report are created to visualize insights and support better business decision-making</a:t>
            </a:r>
          </a:p>
          <a:p>
            <a:endParaRPr lang="en-IN"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Data Description</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5" y="4172084"/>
            <a:ext cx="5619739" cy="1954396"/>
          </a:xfrm>
        </p:spPr>
        <p:txBody>
          <a:bodyPr>
            <a:normAutofit/>
          </a:bodyPr>
          <a:lstStyle/>
          <a:p>
            <a:r>
              <a:rPr lang="en-US" dirty="0"/>
              <a:t>The dataset contains information about customers, including their demographic and financial details. The key variables used in this analysis are customer id, age, income and spending score . This variables helps in understanding the customer pattern and segmenting them effectively.</a:t>
            </a:r>
          </a:p>
          <a:p>
            <a:endParaRPr lang="en-US" dirty="0"/>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KPI’s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fontScale="85000" lnSpcReduction="10000"/>
          </a:bodyPr>
          <a:lstStyle/>
          <a:p>
            <a:pPr marL="0" indent="0">
              <a:buNone/>
            </a:pPr>
            <a:r>
              <a:rPr lang="en-US" dirty="0">
                <a:latin typeface="Cascadia Code SemiBold" panose="020B0609020000020004" pitchFamily="49" charset="0"/>
                <a:ea typeface="Cascadia Code SemiBold" panose="020B0609020000020004" pitchFamily="49" charset="0"/>
                <a:cs typeface="Cascadia Code SemiBold" panose="020B0609020000020004" pitchFamily="49" charset="0"/>
              </a:rPr>
              <a:t>KPI(key performance indicator) is a data visualization used to track progress towards a specific goal or target.</a:t>
            </a:r>
          </a:p>
          <a:p>
            <a:endParaRPr lang="en-US" dirty="0">
              <a:latin typeface="Cascadia Code SemiBold" panose="020B0609020000020004" pitchFamily="49" charset="0"/>
              <a:ea typeface="Cascadia Code SemiBold" panose="020B0609020000020004" pitchFamily="49" charset="0"/>
              <a:cs typeface="Cascadia Code SemiBold" panose="020B0609020000020004" pitchFamily="49" charset="0"/>
            </a:endParaRPr>
          </a:p>
          <a:p>
            <a:pPr marL="0" indent="0">
              <a:buNone/>
            </a:pPr>
            <a:r>
              <a:rPr lang="en-US" dirty="0">
                <a:latin typeface="Cascadia Code SemiBold" panose="020B0609020000020004" pitchFamily="49" charset="0"/>
                <a:ea typeface="Cascadia Code SemiBold" panose="020B0609020000020004" pitchFamily="49" charset="0"/>
                <a:cs typeface="Cascadia Code SemiBold" panose="020B0609020000020004" pitchFamily="49" charset="0"/>
              </a:rPr>
              <a:t>Here, </a:t>
            </a:r>
          </a:p>
          <a:p>
            <a:r>
              <a:rPr lang="en-US" dirty="0">
                <a:latin typeface="Cascadia Code SemiBold" panose="020B0609020000020004" pitchFamily="49" charset="0"/>
                <a:ea typeface="Cascadia Code SemiBold" panose="020B0609020000020004" pitchFamily="49" charset="0"/>
                <a:cs typeface="Cascadia Code SemiBold" panose="020B0609020000020004" pitchFamily="49" charset="0"/>
              </a:rPr>
              <a:t>The first KPI shows the “total number” of customers.</a:t>
            </a:r>
          </a:p>
          <a:p>
            <a:r>
              <a:rPr lang="en-US" dirty="0">
                <a:latin typeface="Cascadia Code SemiBold" panose="020B0609020000020004" pitchFamily="49" charset="0"/>
                <a:ea typeface="Cascadia Code SemiBold" panose="020B0609020000020004" pitchFamily="49" charset="0"/>
                <a:cs typeface="Cascadia Code SemiBold" panose="020B0609020000020004" pitchFamily="49" charset="0"/>
              </a:rPr>
              <a:t>The second KPI shows the “average income” of all the customers.</a:t>
            </a:r>
          </a:p>
          <a:p>
            <a:r>
              <a:rPr lang="en-US" dirty="0">
                <a:latin typeface="Cascadia Code SemiBold" panose="020B0609020000020004" pitchFamily="49" charset="0"/>
                <a:ea typeface="Cascadia Code SemiBold" panose="020B0609020000020004" pitchFamily="49" charset="0"/>
                <a:cs typeface="Cascadia Code SemiBold" panose="020B0609020000020004" pitchFamily="49" charset="0"/>
              </a:rPr>
              <a:t>The third KPI shows the “average spending” score of all the customers.</a:t>
            </a:r>
            <a:endParaRPr lang="en-IN" dirty="0">
              <a:latin typeface="Cascadia Code SemiBold" panose="020B0609020000020004" pitchFamily="49" charset="0"/>
              <a:ea typeface="Cascadia Code SemiBold" panose="020B0609020000020004" pitchFamily="49" charset="0"/>
              <a:cs typeface="Cascadia Code SemiBold" panose="020B0609020000020004" pitchFamily="49" charset="0"/>
            </a:endParaRPr>
          </a:p>
          <a:p>
            <a:pPr marL="0" indent="0">
              <a:buNone/>
            </a:pP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pic>
        <p:nvPicPr>
          <p:cNvPr id="8" name="Picture 7">
            <a:extLst>
              <a:ext uri="{FF2B5EF4-FFF2-40B4-BE49-F238E27FC236}">
                <a16:creationId xmlns:a16="http://schemas.microsoft.com/office/drawing/2014/main" id="{83506275-680E-A253-9C46-97D015799557}"/>
              </a:ext>
            </a:extLst>
          </p:cNvPr>
          <p:cNvPicPr>
            <a:picLocks noChangeAspect="1"/>
          </p:cNvPicPr>
          <p:nvPr/>
        </p:nvPicPr>
        <p:blipFill>
          <a:blip r:embed="rId2"/>
          <a:stretch>
            <a:fillRect/>
          </a:stretch>
        </p:blipFill>
        <p:spPr>
          <a:xfrm>
            <a:off x="342182" y="3330057"/>
            <a:ext cx="5144218" cy="962159"/>
          </a:xfrm>
          <a:prstGeom prst="rect">
            <a:avLst/>
          </a:prstGeom>
          <a:solidFill>
            <a:srgbClr val="FFFFFF">
              <a:shade val="85000"/>
            </a:srgbClr>
          </a:solidFill>
          <a:ln w="190500" cap="rnd">
            <a:solidFill>
              <a:srgbClr val="FFFFFF"/>
            </a:solidFill>
          </a:ln>
          <a:effectLst>
            <a:outerShdw blurRad="152400" dist="317500" dir="5400000" sx="90000" sy="-19000" rotWithShape="0">
              <a:prstClr val="black">
                <a:alpha val="15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34FFFB4-D2C1-69FA-571D-789710F97833}"/>
              </a:ext>
            </a:extLst>
          </p:cNvPr>
          <p:cNvPicPr>
            <a:picLocks noChangeAspect="1"/>
          </p:cNvPicPr>
          <p:nvPr/>
        </p:nvPicPr>
        <p:blipFill>
          <a:blip r:embed="rId2"/>
          <a:stretch>
            <a:fillRect/>
          </a:stretch>
        </p:blipFill>
        <p:spPr>
          <a:xfrm>
            <a:off x="494898" y="1777452"/>
            <a:ext cx="4541493" cy="3550753"/>
          </a:xfrm>
          <a:prstGeom prst="rect">
            <a:avLst/>
          </a:prstGeom>
          <a:solidFill>
            <a:srgbClr val="FFFFFF">
              <a:shade val="85000"/>
            </a:srgbClr>
          </a:solidFill>
          <a:ln w="190500" cap="rnd">
            <a:solidFill>
              <a:srgbClr val="FFFFFF"/>
            </a:solidFill>
          </a:ln>
          <a:effectLst>
            <a:outerShdw blurRad="152400" dist="317500" dir="5400000" sx="90000" sy="-19000" rotWithShape="0">
              <a:prstClr val="black">
                <a:alpha val="15000"/>
              </a:prstClr>
            </a:outerShdw>
          </a:effectLst>
          <a:scene3d>
            <a:camera prst="orthographicFront"/>
            <a:lightRig rig="twoPt" dir="t">
              <a:rot lat="0" lon="0" rev="7800000"/>
            </a:lightRig>
          </a:scene3d>
          <a:sp3d contourW="6350">
            <a:bevelT w="50800" h="16510"/>
            <a:contourClr>
              <a:srgbClr val="C0C0C0"/>
            </a:contourClr>
          </a:sp3d>
        </p:spPr>
      </p:pic>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494898" y="561972"/>
            <a:ext cx="5029200" cy="2743200"/>
          </a:xfrm>
        </p:spPr>
        <p:txBody>
          <a:bodyPr lIns="0" anchor="t" anchorCtr="0"/>
          <a:lstStyle/>
          <a:p>
            <a:r>
              <a:rPr lang="en-US" dirty="0"/>
              <a:t>BAR CHART</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6667902" y="1624084"/>
            <a:ext cx="5029200" cy="1364776"/>
          </a:xfrm>
        </p:spPr>
        <p:txBody>
          <a:bodyPr anchor="b" anchorCtr="0">
            <a:normAutofit fontScale="92500" lnSpcReduction="10000"/>
          </a:bodyPr>
          <a:lstStyle/>
          <a:p>
            <a:r>
              <a:rPr lang="en-US" dirty="0"/>
              <a:t>It shows the comparison of average spending across different income groups.</a:t>
            </a:r>
          </a:p>
          <a:p>
            <a:r>
              <a:rPr lang="en-US" dirty="0"/>
              <a:t>It helps identify which income category spends more</a:t>
            </a:r>
          </a:p>
        </p:txBody>
      </p:sp>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SCATTER PLOT</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6166361" y="2033516"/>
            <a:ext cx="5486400" cy="1737360"/>
          </a:xfrm>
        </p:spPr>
        <p:txBody>
          <a:bodyPr>
            <a:normAutofit fontScale="92500" lnSpcReduction="10000"/>
          </a:bodyPr>
          <a:lstStyle/>
          <a:p>
            <a:pPr marL="0" indent="0">
              <a:buNone/>
            </a:pPr>
            <a:r>
              <a:rPr lang="en-US" dirty="0"/>
              <a:t>It displays the relationship between the income group and spending score . It also helps to visualize the customers segments and identify the spending patterns .</a:t>
            </a:r>
          </a:p>
          <a:p>
            <a:pPr marL="0" indent="0">
              <a:buNone/>
            </a:pPr>
            <a:endParaRPr lang="en-US" dirty="0"/>
          </a:p>
          <a:p>
            <a:pPr marL="0" indent="0">
              <a:buNone/>
            </a:pPr>
            <a:r>
              <a:rPr lang="en-US" dirty="0"/>
              <a:t>Visualizes customer segmentation by showing how income related to spending behavior</a:t>
            </a:r>
          </a:p>
          <a:p>
            <a:pPr marL="0" indent="0">
              <a:buNone/>
            </a:pPr>
            <a:endParaRPr lang="en-US" dirty="0"/>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pic>
        <p:nvPicPr>
          <p:cNvPr id="8" name="Content Placeholder 7">
            <a:extLst>
              <a:ext uri="{FF2B5EF4-FFF2-40B4-BE49-F238E27FC236}">
                <a16:creationId xmlns:a16="http://schemas.microsoft.com/office/drawing/2014/main" id="{70B14E06-E2EE-9DFE-A185-199DF58F1118}"/>
              </a:ext>
            </a:extLst>
          </p:cNvPr>
          <p:cNvPicPr>
            <a:picLocks noGrp="1" noChangeAspect="1"/>
          </p:cNvPicPr>
          <p:nvPr>
            <p:ph idx="30"/>
          </p:nvPr>
        </p:nvPicPr>
        <p:blipFill>
          <a:blip r:embed="rId3"/>
          <a:stretch>
            <a:fillRect/>
          </a:stretch>
        </p:blipFill>
        <p:spPr>
          <a:xfrm>
            <a:off x="436728" y="2019868"/>
            <a:ext cx="5141112" cy="3493827"/>
          </a:xfrm>
          <a:prstGeom prst="rect">
            <a:avLst/>
          </a:prstGeom>
          <a:solidFill>
            <a:srgbClr val="FFFFFF">
              <a:shade val="85000"/>
            </a:srgbClr>
          </a:solidFill>
          <a:ln w="190500" cap="rnd">
            <a:solidFill>
              <a:srgbClr val="FFFFFF"/>
            </a:solidFill>
          </a:ln>
          <a:effectLst>
            <a:outerShdw blurRad="152400" dist="317500" dir="5400000" sx="90000" sy="-19000" rotWithShape="0">
              <a:prstClr val="black">
                <a:alpha val="15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7192370" y="0"/>
            <a:ext cx="3220872" cy="1132934"/>
          </a:xfrm>
        </p:spPr>
        <p:txBody>
          <a:bodyPr anchor="b" anchorCtr="0"/>
          <a:lstStyle/>
          <a:p>
            <a:r>
              <a:rPr lang="en-US" altLang="zh-CN" dirty="0"/>
              <a:t>PIE CHART </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00752" y="2103120"/>
            <a:ext cx="3931920" cy="2651760"/>
          </a:xfrm>
        </p:spPr>
        <p:txBody>
          <a:bodyPr/>
          <a:lstStyle/>
          <a:p>
            <a:pPr marL="0" indent="0">
              <a:buNone/>
            </a:pPr>
            <a:r>
              <a:rPr lang="en-US" dirty="0"/>
              <a:t>The pie chart represents the distribution of customers across the different age groups. It shows which age group has the highest number of customers .</a:t>
            </a:r>
          </a:p>
          <a:p>
            <a:pPr marL="0" indent="0">
              <a:buNone/>
            </a:pPr>
            <a:endParaRPr lang="en-US" dirty="0"/>
          </a:p>
          <a:p>
            <a:pPr marL="0" indent="0">
              <a:buNone/>
            </a:pPr>
            <a:r>
              <a:rPr lang="en-US" dirty="0"/>
              <a:t>Shows the proportion of customers in each age group</a:t>
            </a: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pic>
        <p:nvPicPr>
          <p:cNvPr id="15" name="Picture 14">
            <a:extLst>
              <a:ext uri="{FF2B5EF4-FFF2-40B4-BE49-F238E27FC236}">
                <a16:creationId xmlns:a16="http://schemas.microsoft.com/office/drawing/2014/main" id="{1C1427B8-3B86-2578-271E-FB7047545A73}"/>
              </a:ext>
            </a:extLst>
          </p:cNvPr>
          <p:cNvPicPr>
            <a:picLocks noChangeAspect="1"/>
          </p:cNvPicPr>
          <p:nvPr/>
        </p:nvPicPr>
        <p:blipFill>
          <a:blip r:embed="rId3"/>
          <a:stretch>
            <a:fillRect/>
          </a:stretch>
        </p:blipFill>
        <p:spPr>
          <a:xfrm>
            <a:off x="6373504" y="1473959"/>
            <a:ext cx="5279257" cy="3875964"/>
          </a:xfrm>
          <a:prstGeom prst="rect">
            <a:avLst/>
          </a:prstGeom>
          <a:solidFill>
            <a:srgbClr val="FFFFFF">
              <a:shade val="85000"/>
            </a:srgbClr>
          </a:solidFill>
          <a:ln w="190500" cap="rnd">
            <a:solidFill>
              <a:srgbClr val="FFFFFF"/>
            </a:solidFill>
          </a:ln>
          <a:effectLst>
            <a:outerShdw blurRad="152400" dist="317500" dir="5400000" sx="90000" sy="-19000" rotWithShape="0">
              <a:prstClr val="black">
                <a:alpha val="15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7129865" y="491320"/>
            <a:ext cx="3292475" cy="1224204"/>
          </a:xfrm>
        </p:spPr>
        <p:txBody>
          <a:bodyPr/>
          <a:lstStyle/>
          <a:p>
            <a:r>
              <a:rPr lang="en-US" dirty="0"/>
              <a:t>FILTERS</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709682" y="2699527"/>
            <a:ext cx="4094330" cy="2651760"/>
          </a:xfrm>
        </p:spPr>
        <p:txBody>
          <a:bodyPr>
            <a:normAutofit lnSpcReduction="10000"/>
          </a:bodyPr>
          <a:lstStyle/>
          <a:p>
            <a:r>
              <a:rPr lang="en-US" dirty="0"/>
              <a:t>Filters allow the users to interact with the dashboard by selecting specific groups such as age , income , or spending , making the analysis more dynamic and focused .</a:t>
            </a:r>
          </a:p>
          <a:p>
            <a:endParaRPr lang="en-US" dirty="0"/>
          </a:p>
          <a:p>
            <a:r>
              <a:rPr lang="en-US" dirty="0"/>
              <a:t>Enables interactive analysis by allowing users to views specific segments of data</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pic>
        <p:nvPicPr>
          <p:cNvPr id="8" name="Content Placeholder 7">
            <a:extLst>
              <a:ext uri="{FF2B5EF4-FFF2-40B4-BE49-F238E27FC236}">
                <a16:creationId xmlns:a16="http://schemas.microsoft.com/office/drawing/2014/main" id="{7DE3FA7B-9D21-031E-A6F9-6F5F76EBCDCC}"/>
              </a:ext>
            </a:extLst>
          </p:cNvPr>
          <p:cNvPicPr>
            <a:picLocks noGrp="1" noChangeAspect="1"/>
          </p:cNvPicPr>
          <p:nvPr>
            <p:ph idx="56"/>
          </p:nvPr>
        </p:nvPicPr>
        <p:blipFill>
          <a:blip r:embed="rId3"/>
          <a:stretch>
            <a:fillRect/>
          </a:stretch>
        </p:blipFill>
        <p:spPr>
          <a:xfrm>
            <a:off x="5469979" y="2183642"/>
            <a:ext cx="5526540" cy="1446661"/>
          </a:xfrm>
          <a:prstGeom prst="rect">
            <a:avLst/>
          </a:prstGeom>
          <a:solidFill>
            <a:srgbClr val="FFFFFF">
              <a:shade val="85000"/>
            </a:srgbClr>
          </a:solidFill>
          <a:ln w="190500" cap="rnd">
            <a:solidFill>
              <a:srgbClr val="FFFFFF"/>
            </a:solidFill>
          </a:ln>
          <a:effectLst>
            <a:outerShdw blurRad="152400" dist="317500" dir="5400000" sx="90000" sy="-19000" rotWithShape="0">
              <a:prstClr val="black">
                <a:alpha val="15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18214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2888776" y="95534"/>
            <a:ext cx="6414447" cy="600502"/>
          </a:xfrm>
          <a:noFill/>
        </p:spPr>
        <p:txBody>
          <a:bodyPr anchor="b" anchorCtr="0">
            <a:noAutofit/>
          </a:bodyPr>
          <a:lstStyle/>
          <a:p>
            <a:pPr algn="ctr"/>
            <a:r>
              <a:rPr lang="en-US" sz="2800" dirty="0"/>
              <a:t>DASHBOARD OVERVIEW</a:t>
            </a:r>
          </a:p>
        </p:txBody>
      </p:sp>
      <p:sp>
        <p:nvSpPr>
          <p:cNvPr id="10" name="Content Placeholder 9">
            <a:extLst>
              <a:ext uri="{FF2B5EF4-FFF2-40B4-BE49-F238E27FC236}">
                <a16:creationId xmlns:a16="http://schemas.microsoft.com/office/drawing/2014/main" id="{19DA784D-F56F-1224-707E-9F882C4EB8A1}"/>
              </a:ext>
            </a:extLst>
          </p:cNvPr>
          <p:cNvSpPr>
            <a:spLocks noGrp="1"/>
          </p:cNvSpPr>
          <p:nvPr>
            <p:ph idx="14"/>
          </p:nvPr>
        </p:nvSpPr>
        <p:spPr>
          <a:xfrm>
            <a:off x="914400" y="3108960"/>
            <a:ext cx="4389120" cy="1920240"/>
          </a:xfrm>
        </p:spPr>
        <p:txBody>
          <a:bodyPr/>
          <a:lstStyle/>
          <a:p>
            <a:pPr marL="0" indent="0">
              <a:buNone/>
            </a:pPr>
            <a:endParaRPr lang="en-US" dirty="0"/>
          </a:p>
        </p:txBody>
      </p:sp>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12"/>
          </p:nvPr>
        </p:nvSpPr>
        <p:spPr/>
        <p:txBody>
          <a:bodyPr/>
          <a:lstStyle/>
          <a:p>
            <a:fld id="{CBD12358-51D2-46B3-9BDE-DF29528B9454}" type="slidenum">
              <a:rPr lang="en-US" smtClean="0"/>
              <a:t>9</a:t>
            </a:fld>
            <a:endParaRPr lang="en-US" dirty="0"/>
          </a:p>
        </p:txBody>
      </p:sp>
      <p:pic>
        <p:nvPicPr>
          <p:cNvPr id="7" name="Content Placeholder 6">
            <a:extLst>
              <a:ext uri="{FF2B5EF4-FFF2-40B4-BE49-F238E27FC236}">
                <a16:creationId xmlns:a16="http://schemas.microsoft.com/office/drawing/2014/main" id="{B783CBDC-ECBD-7EA3-540E-DB8BB00C6AA9}"/>
              </a:ext>
            </a:extLst>
          </p:cNvPr>
          <p:cNvPicPr>
            <a:picLocks noGrp="1" noChangeAspect="1"/>
          </p:cNvPicPr>
          <p:nvPr>
            <p:ph idx="1"/>
          </p:nvPr>
        </p:nvPicPr>
        <p:blipFill>
          <a:blip r:embed="rId2"/>
          <a:stretch>
            <a:fillRect/>
          </a:stretch>
        </p:blipFill>
        <p:spPr>
          <a:xfrm>
            <a:off x="191069" y="846161"/>
            <a:ext cx="11818961" cy="6011839"/>
          </a:xfrm>
          <a:prstGeom prst="rect">
            <a:avLst/>
          </a:prstGeom>
        </p:spPr>
      </p:pic>
    </p:spTree>
    <p:extLst>
      <p:ext uri="{BB962C8B-B14F-4D97-AF65-F5344CB8AC3E}">
        <p14:creationId xmlns:p14="http://schemas.microsoft.com/office/powerpoint/2010/main" val="42599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03FC2-CC0F-308F-2E4A-F85FA6513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9A14B-4AA0-BFE4-6946-CAEC447F83B7}"/>
              </a:ext>
            </a:extLst>
          </p:cNvPr>
          <p:cNvSpPr>
            <a:spLocks noGrp="1"/>
          </p:cNvSpPr>
          <p:nvPr>
            <p:ph type="title"/>
          </p:nvPr>
        </p:nvSpPr>
        <p:spPr>
          <a:xfrm>
            <a:off x="2888776" y="95534"/>
            <a:ext cx="6414447" cy="600502"/>
          </a:xfrm>
          <a:noFill/>
        </p:spPr>
        <p:txBody>
          <a:bodyPr anchor="b" anchorCtr="0">
            <a:noAutofit/>
          </a:bodyPr>
          <a:lstStyle/>
          <a:p>
            <a:pPr algn="ctr"/>
            <a:endParaRPr lang="en-US" sz="2800" dirty="0"/>
          </a:p>
        </p:txBody>
      </p:sp>
      <p:pic>
        <p:nvPicPr>
          <p:cNvPr id="8" name="Content Placeholder 7">
            <a:extLst>
              <a:ext uri="{FF2B5EF4-FFF2-40B4-BE49-F238E27FC236}">
                <a16:creationId xmlns:a16="http://schemas.microsoft.com/office/drawing/2014/main" id="{B5816E5C-CE9C-4397-8122-54FF7EB2B9D9}"/>
              </a:ext>
            </a:extLst>
          </p:cNvPr>
          <p:cNvPicPr>
            <a:picLocks noGrp="1" noChangeAspect="1"/>
          </p:cNvPicPr>
          <p:nvPr>
            <p:ph idx="14"/>
          </p:nvPr>
        </p:nvPicPr>
        <p:blipFill>
          <a:blip r:embed="rId2"/>
          <a:stretch>
            <a:fillRect/>
          </a:stretch>
        </p:blipFill>
        <p:spPr>
          <a:xfrm>
            <a:off x="144906" y="95534"/>
            <a:ext cx="5806189" cy="6666932"/>
          </a:xfrm>
          <a:prstGeom prst="rect">
            <a:avLst/>
          </a:prstGeom>
        </p:spPr>
      </p:pic>
      <p:sp>
        <p:nvSpPr>
          <p:cNvPr id="3" name="Slide Number Placeholder 2">
            <a:extLst>
              <a:ext uri="{FF2B5EF4-FFF2-40B4-BE49-F238E27FC236}">
                <a16:creationId xmlns:a16="http://schemas.microsoft.com/office/drawing/2014/main" id="{4DAA2001-43BE-C36D-671C-0A79F2ADC1FF}"/>
              </a:ext>
            </a:extLst>
          </p:cNvPr>
          <p:cNvSpPr>
            <a:spLocks noGrp="1"/>
          </p:cNvSpPr>
          <p:nvPr>
            <p:ph type="sldNum" sz="quarter" idx="12"/>
          </p:nvPr>
        </p:nvSpPr>
        <p:spPr/>
        <p:txBody>
          <a:bodyPr/>
          <a:lstStyle/>
          <a:p>
            <a:fld id="{CBD12358-51D2-46B3-9BDE-DF29528B9454}" type="slidenum">
              <a:rPr lang="en-US" smtClean="0"/>
              <a:t>10</a:t>
            </a:fld>
            <a:endParaRPr lang="en-US" dirty="0"/>
          </a:p>
        </p:txBody>
      </p:sp>
      <p:pic>
        <p:nvPicPr>
          <p:cNvPr id="11" name="Content Placeholder 10">
            <a:extLst>
              <a:ext uri="{FF2B5EF4-FFF2-40B4-BE49-F238E27FC236}">
                <a16:creationId xmlns:a16="http://schemas.microsoft.com/office/drawing/2014/main" id="{1C6348AF-C1CD-CB9B-24A2-7BF408C94A9A}"/>
              </a:ext>
            </a:extLst>
          </p:cNvPr>
          <p:cNvPicPr>
            <a:picLocks noGrp="1" noChangeAspect="1"/>
          </p:cNvPicPr>
          <p:nvPr>
            <p:ph idx="1"/>
          </p:nvPr>
        </p:nvPicPr>
        <p:blipFill>
          <a:blip r:embed="rId3"/>
          <a:stretch>
            <a:fillRect/>
          </a:stretch>
        </p:blipFill>
        <p:spPr>
          <a:xfrm>
            <a:off x="6023546" y="151491"/>
            <a:ext cx="3207224" cy="3237932"/>
          </a:xfrm>
          <a:prstGeom prst="rect">
            <a:avLst/>
          </a:prstGeom>
        </p:spPr>
      </p:pic>
      <p:pic>
        <p:nvPicPr>
          <p:cNvPr id="13" name="Picture 12">
            <a:extLst>
              <a:ext uri="{FF2B5EF4-FFF2-40B4-BE49-F238E27FC236}">
                <a16:creationId xmlns:a16="http://schemas.microsoft.com/office/drawing/2014/main" id="{453FD3FB-A9A0-36FB-0835-0C7B3763E181}"/>
              </a:ext>
            </a:extLst>
          </p:cNvPr>
          <p:cNvPicPr>
            <a:picLocks noChangeAspect="1"/>
          </p:cNvPicPr>
          <p:nvPr/>
        </p:nvPicPr>
        <p:blipFill>
          <a:blip r:embed="rId4"/>
          <a:stretch>
            <a:fillRect/>
          </a:stretch>
        </p:blipFill>
        <p:spPr>
          <a:xfrm>
            <a:off x="9303222" y="151491"/>
            <a:ext cx="2743871" cy="3237932"/>
          </a:xfrm>
          <a:prstGeom prst="rect">
            <a:avLst/>
          </a:prstGeom>
        </p:spPr>
      </p:pic>
      <p:pic>
        <p:nvPicPr>
          <p:cNvPr id="15" name="Picture 14">
            <a:extLst>
              <a:ext uri="{FF2B5EF4-FFF2-40B4-BE49-F238E27FC236}">
                <a16:creationId xmlns:a16="http://schemas.microsoft.com/office/drawing/2014/main" id="{E9209737-153B-3350-6E0A-AD58CA7A2982}"/>
              </a:ext>
            </a:extLst>
          </p:cNvPr>
          <p:cNvPicPr>
            <a:picLocks noChangeAspect="1"/>
          </p:cNvPicPr>
          <p:nvPr/>
        </p:nvPicPr>
        <p:blipFill>
          <a:blip r:embed="rId5"/>
          <a:stretch>
            <a:fillRect/>
          </a:stretch>
        </p:blipFill>
        <p:spPr>
          <a:xfrm>
            <a:off x="6095999" y="3524533"/>
            <a:ext cx="5951095" cy="3281923"/>
          </a:xfrm>
          <a:prstGeom prst="rect">
            <a:avLst/>
          </a:prstGeom>
        </p:spPr>
      </p:pic>
    </p:spTree>
    <p:extLst>
      <p:ext uri="{BB962C8B-B14F-4D97-AF65-F5344CB8AC3E}">
        <p14:creationId xmlns:p14="http://schemas.microsoft.com/office/powerpoint/2010/main" val="215011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7015310" y="0"/>
            <a:ext cx="4441188" cy="2775857"/>
          </a:xfrm>
        </p:spPr>
        <p:txBody>
          <a:bodyPr/>
          <a:lstStyle/>
          <a:p>
            <a:r>
              <a:rPr lang="en-US" dirty="0"/>
              <a:t>CONCLUSION</a:t>
            </a:r>
          </a:p>
        </p:txBody>
      </p:sp>
      <p:sp>
        <p:nvSpPr>
          <p:cNvPr id="6" name="TextBox 5">
            <a:extLst>
              <a:ext uri="{FF2B5EF4-FFF2-40B4-BE49-F238E27FC236}">
                <a16:creationId xmlns:a16="http://schemas.microsoft.com/office/drawing/2014/main" id="{9E72D94B-B68F-AD16-EFF5-83BFFE43BD77}"/>
              </a:ext>
            </a:extLst>
          </p:cNvPr>
          <p:cNvSpPr txBox="1"/>
          <p:nvPr/>
        </p:nvSpPr>
        <p:spPr>
          <a:xfrm>
            <a:off x="6096000" y="2206171"/>
            <a:ext cx="6096000" cy="2677656"/>
          </a:xfrm>
          <a:prstGeom prst="rect">
            <a:avLst/>
          </a:prstGeom>
        </p:spPr>
        <p:txBody>
          <a:bodyPr wrap="square" rtlCol="0">
            <a:spAutoFit/>
          </a:bodyPr>
          <a:lstStyle/>
          <a:p>
            <a:pPr marL="0" indent="0" algn="ctr">
              <a:lnSpc>
                <a:spcPct val="100000"/>
              </a:lnSpc>
              <a:spcBef>
                <a:spcPts val="0"/>
              </a:spcBef>
              <a:buFontTx/>
              <a:buNone/>
            </a:pPr>
            <a:r>
              <a:rPr lang="en-US" sz="2400" dirty="0">
                <a:solidFill>
                  <a:prstClr val="white"/>
                </a:solidFill>
                <a:latin typeface="Segoe UI Black" panose="020B0A02040204020203" pitchFamily="34" charset="0"/>
                <a:ea typeface="Segoe UI Black" panose="020B0A02040204020203" pitchFamily="34" charset="0"/>
                <a:cs typeface="Posterama" panose="020B0504020200020000" pitchFamily="34" charset="0"/>
              </a:rPr>
              <a:t>This project highlights the importance of the customer segmentation in understanding behavior and improving business strategies. </a:t>
            </a:r>
          </a:p>
          <a:p>
            <a:pPr marL="0" indent="0" algn="ctr">
              <a:lnSpc>
                <a:spcPct val="100000"/>
              </a:lnSpc>
              <a:spcBef>
                <a:spcPts val="0"/>
              </a:spcBef>
              <a:buFontTx/>
              <a:buNone/>
            </a:pPr>
            <a:r>
              <a:rPr lang="en-US" sz="2400" dirty="0">
                <a:solidFill>
                  <a:prstClr val="white"/>
                </a:solidFill>
                <a:latin typeface="Segoe UI Black" panose="020B0A02040204020203" pitchFamily="34" charset="0"/>
                <a:ea typeface="Segoe UI Black" panose="020B0A02040204020203" pitchFamily="34" charset="0"/>
                <a:cs typeface="Posterama" panose="020B0504020200020000" pitchFamily="34" charset="0"/>
              </a:rPr>
              <a:t>Using IBM Cognos Analytics, both dashboard and report provide valuable insights for better decision-making .</a:t>
            </a:r>
            <a:endParaRPr lang="en-IN" sz="2400" dirty="0">
              <a:solidFill>
                <a:prstClr val="white"/>
              </a:solidFill>
              <a:latin typeface="Segoe UI Black" panose="020B0A02040204020203" pitchFamily="34" charset="0"/>
              <a:ea typeface="Segoe UI Black" panose="020B0A02040204020203" pitchFamily="34" charset="0"/>
              <a:cs typeface="Posterama" panose="020B0504020200020000" pitchFamily="34" charset="0"/>
            </a:endParaRPr>
          </a:p>
        </p:txBody>
      </p:sp>
      <p:pic>
        <p:nvPicPr>
          <p:cNvPr id="10" name="Picture Placeholder 9">
            <a:extLst>
              <a:ext uri="{FF2B5EF4-FFF2-40B4-BE49-F238E27FC236}">
                <a16:creationId xmlns:a16="http://schemas.microsoft.com/office/drawing/2014/main" id="{100495C4-01BA-B1FB-9F9B-34E4B272F04F}"/>
              </a:ext>
            </a:extLst>
          </p:cNvPr>
          <p:cNvPicPr>
            <a:picLocks noGrp="1" noChangeAspect="1"/>
          </p:cNvPicPr>
          <p:nvPr>
            <p:ph type="pic" sz="quarter" idx="48"/>
          </p:nvPr>
        </p:nvPicPr>
        <p:blipFill>
          <a:blip r:embed="rId2"/>
          <a:srcRect l="54124" r="5010"/>
          <a:stretch>
            <a:fillRect/>
          </a:stretch>
        </p:blipFill>
        <p:spPr>
          <a:xfrm>
            <a:off x="914400" y="655495"/>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Tree>
    <p:extLst>
      <p:ext uri="{BB962C8B-B14F-4D97-AF65-F5344CB8AC3E}">
        <p14:creationId xmlns:p14="http://schemas.microsoft.com/office/powerpoint/2010/main" val="1148227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82</TotalTime>
  <Words>373</Words>
  <Application>Microsoft Office PowerPoint</Application>
  <PresentationFormat>Widescreen</PresentationFormat>
  <Paragraphs>49</Paragraphs>
  <Slides>12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等线</vt:lpstr>
      <vt:lpstr>Abadi</vt:lpstr>
      <vt:lpstr>Arial</vt:lpstr>
      <vt:lpstr>Calibri</vt:lpstr>
      <vt:lpstr>Cascadia Code SemiBold</vt:lpstr>
      <vt:lpstr>Posterama</vt:lpstr>
      <vt:lpstr>Posterama Text SemiBold</vt:lpstr>
      <vt:lpstr>Segoe UI Black</vt:lpstr>
      <vt:lpstr>Custom</vt:lpstr>
      <vt:lpstr>CUSTOMER SEGMENTATION ANALYSIS</vt:lpstr>
      <vt:lpstr>INTRO </vt:lpstr>
      <vt:lpstr>Data Description</vt:lpstr>
      <vt:lpstr>KPI’s</vt:lpstr>
      <vt:lpstr>BAR CHART</vt:lpstr>
      <vt:lpstr>SCATTER PLOT</vt:lpstr>
      <vt:lpstr>PIE CHART </vt:lpstr>
      <vt:lpstr>FILTERS</vt:lpstr>
      <vt:lpstr>DASHBOARD OVERVIEW</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Indraneel Das</dc:creator>
  <cp:lastModifiedBy>Indraneel Das</cp:lastModifiedBy>
  <cp:revision>2</cp:revision>
  <dcterms:created xsi:type="dcterms:W3CDTF">2026-04-30T05:07:40Z</dcterms:created>
  <dcterms:modified xsi:type="dcterms:W3CDTF">2026-04-30T14:43:29Z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